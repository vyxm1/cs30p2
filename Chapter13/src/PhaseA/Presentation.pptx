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9"/>
  </p:notesMasterIdLst>
  <p:handoutMasterIdLst>
    <p:handoutMasterId r:id="rId10"/>
  </p:handoutMasterIdLst>
  <p:sldIdLst>
    <p:sldId id="334" r:id="rId5"/>
    <p:sldId id="316" r:id="rId6"/>
    <p:sldId id="337" r:id="rId7"/>
    <p:sldId id="34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6E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4" autoAdjust="0"/>
    <p:restoredTop sz="84967" autoAdjust="0"/>
  </p:normalViewPr>
  <p:slideViewPr>
    <p:cSldViewPr snapToGrid="0">
      <p:cViewPr varScale="1">
        <p:scale>
          <a:sx n="72" d="100"/>
          <a:sy n="72" d="100"/>
        </p:scale>
        <p:origin x="246" y="66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487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776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9314" y="1060174"/>
            <a:ext cx="9573371" cy="146357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Animation of Data Structures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866ACC-51D3-F871-CDF6-E8FAB225691C}"/>
              </a:ext>
            </a:extLst>
          </p:cNvPr>
          <p:cNvSpPr txBox="1">
            <a:spLocks/>
          </p:cNvSpPr>
          <p:nvPr/>
        </p:nvSpPr>
        <p:spPr>
          <a:xfrm>
            <a:off x="1309313" y="2242931"/>
            <a:ext cx="9573371" cy="71402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5400"/>
              </a:lnSpc>
              <a:spcBef>
                <a:spcPct val="0"/>
              </a:spcBef>
              <a:buNone/>
              <a:defRPr sz="5400" b="1" i="0" kern="1200" cap="all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1"/>
                </a:solidFill>
              </a:rPr>
              <a:t>Stack, Queue, LinkedList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E0504D-FF21-7F7F-546B-2DA034A7E124}"/>
              </a:ext>
            </a:extLst>
          </p:cNvPr>
          <p:cNvSpPr txBox="1">
            <a:spLocks/>
          </p:cNvSpPr>
          <p:nvPr/>
        </p:nvSpPr>
        <p:spPr>
          <a:xfrm>
            <a:off x="1455087" y="3901040"/>
            <a:ext cx="9573371" cy="71402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5400"/>
              </a:lnSpc>
              <a:spcBef>
                <a:spcPct val="0"/>
              </a:spcBef>
              <a:buNone/>
              <a:defRPr sz="5400" b="1" i="0" kern="1200" cap="all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1"/>
                </a:solidFill>
              </a:rPr>
              <a:t>Vyom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16"/>
    </mc:Choice>
    <mc:Fallback>
      <p:transition spd="slow" advTm="281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0218" y="159301"/>
            <a:ext cx="4222998" cy="651441"/>
          </a:xfrm>
        </p:spPr>
        <p:txBody>
          <a:bodyPr/>
          <a:lstStyle/>
          <a:p>
            <a:r>
              <a:rPr lang="en-US" dirty="0"/>
              <a:t>Stack (Array)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71861" y="1146358"/>
            <a:ext cx="5221355" cy="1066756"/>
          </a:xfrm>
        </p:spPr>
        <p:txBody>
          <a:bodyPr>
            <a:normAutofit/>
          </a:bodyPr>
          <a:lstStyle/>
          <a:p>
            <a:r>
              <a:rPr lang="en-US" dirty="0"/>
              <a:t>A LIFO (Last in First Out) structure which organizes data in a linear order, like an array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" name="Picture 11" descr="A black rectangular object with a bookmark&#10;&#10;AI-generated content may be incorrect.">
            <a:extLst>
              <a:ext uri="{FF2B5EF4-FFF2-40B4-BE49-F238E27FC236}">
                <a16:creationId xmlns:a16="http://schemas.microsoft.com/office/drawing/2014/main" id="{04BA9E5D-C684-EF0C-C16E-40685351E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743" y="5361540"/>
            <a:ext cx="1819275" cy="885825"/>
          </a:xfrm>
          <a:prstGeom prst="rect">
            <a:avLst/>
          </a:prstGeom>
        </p:spPr>
      </p:pic>
      <p:pic>
        <p:nvPicPr>
          <p:cNvPr id="14" name="Picture 13" descr="A black rectangular object with a bookmark&#10;&#10;AI-generated content may be incorrect.">
            <a:extLst>
              <a:ext uri="{FF2B5EF4-FFF2-40B4-BE49-F238E27FC236}">
                <a16:creationId xmlns:a16="http://schemas.microsoft.com/office/drawing/2014/main" id="{17A5A13A-40CC-FB77-BE3D-406F59B30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743" y="4475715"/>
            <a:ext cx="1819275" cy="885825"/>
          </a:xfrm>
          <a:prstGeom prst="rect">
            <a:avLst/>
          </a:prstGeom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0F321E7-3CFE-3213-D50C-4289D47B4708}"/>
              </a:ext>
            </a:extLst>
          </p:cNvPr>
          <p:cNvSpPr txBox="1">
            <a:spLocks/>
          </p:cNvSpPr>
          <p:nvPr/>
        </p:nvSpPr>
        <p:spPr>
          <a:xfrm>
            <a:off x="2451652" y="5608461"/>
            <a:ext cx="265044" cy="3919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0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AD1025E6-64B4-25A1-BBDB-1124E167B7E4}"/>
              </a:ext>
            </a:extLst>
          </p:cNvPr>
          <p:cNvSpPr txBox="1">
            <a:spLocks/>
          </p:cNvSpPr>
          <p:nvPr/>
        </p:nvSpPr>
        <p:spPr>
          <a:xfrm>
            <a:off x="2451652" y="4736610"/>
            <a:ext cx="265044" cy="3919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D61C2C7-D580-ABC0-8809-D99FE109739F}"/>
              </a:ext>
            </a:extLst>
          </p:cNvPr>
          <p:cNvGrpSpPr/>
          <p:nvPr/>
        </p:nvGrpSpPr>
        <p:grpSpPr>
          <a:xfrm>
            <a:off x="4929808" y="4593949"/>
            <a:ext cx="2387570" cy="649356"/>
            <a:chOff x="4929809" y="4494559"/>
            <a:chExt cx="2387570" cy="649356"/>
          </a:xfrm>
        </p:grpSpPr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7BC4459B-884A-C078-8F84-BCE352494D47}"/>
                </a:ext>
              </a:extLst>
            </p:cNvPr>
            <p:cNvSpPr/>
            <p:nvPr/>
          </p:nvSpPr>
          <p:spPr>
            <a:xfrm rot="10800000">
              <a:off x="4929809" y="4494559"/>
              <a:ext cx="1417982" cy="64935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 Placeholder 3">
              <a:extLst>
                <a:ext uri="{FF2B5EF4-FFF2-40B4-BE49-F238E27FC236}">
                  <a16:creationId xmlns:a16="http://schemas.microsoft.com/office/drawing/2014/main" id="{B95E128F-D44F-7CF6-32FC-51F8E691275D}"/>
                </a:ext>
              </a:extLst>
            </p:cNvPr>
            <p:cNvSpPr txBox="1">
              <a:spLocks/>
            </p:cNvSpPr>
            <p:nvPr/>
          </p:nvSpPr>
          <p:spPr>
            <a:xfrm>
              <a:off x="6599581" y="4661240"/>
              <a:ext cx="717798" cy="376659"/>
            </a:xfrm>
            <a:prstGeom prst="rect">
              <a:avLst/>
            </a:prstGeom>
          </p:spPr>
          <p:txBody>
            <a:bodyPr vert="horz" lIns="0" tIns="0" rIns="0" bIns="0" rtlCol="0">
              <a:normAutofit/>
            </a:bodyPr>
            <a:lstStyle>
              <a:lvl1pPr marL="0" indent="0" algn="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TOP</a:t>
              </a:r>
            </a:p>
            <a:p>
              <a:endParaRPr lang="en-US" dirty="0"/>
            </a:p>
            <a:p>
              <a:endParaRPr lang="en-US" dirty="0"/>
            </a:p>
          </p:txBody>
        </p:sp>
      </p:grp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3D2F5759-0431-D5AE-BC64-C998F2C279FB}"/>
              </a:ext>
            </a:extLst>
          </p:cNvPr>
          <p:cNvSpPr txBox="1">
            <a:spLocks/>
          </p:cNvSpPr>
          <p:nvPr/>
        </p:nvSpPr>
        <p:spPr>
          <a:xfrm>
            <a:off x="2451652" y="3860205"/>
            <a:ext cx="265044" cy="3919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2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DAC0604E-D11A-0591-9867-4177786A1C2D}"/>
              </a:ext>
            </a:extLst>
          </p:cNvPr>
          <p:cNvSpPr txBox="1">
            <a:spLocks/>
          </p:cNvSpPr>
          <p:nvPr/>
        </p:nvSpPr>
        <p:spPr>
          <a:xfrm>
            <a:off x="2451652" y="2997795"/>
            <a:ext cx="265044" cy="3919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3</a:t>
            </a:r>
          </a:p>
        </p:txBody>
      </p:sp>
      <p:pic>
        <p:nvPicPr>
          <p:cNvPr id="24" name="Picture 23" descr="A black rectangular object with a bookmark&#10;&#10;AI-generated content may be incorrect.">
            <a:extLst>
              <a:ext uri="{FF2B5EF4-FFF2-40B4-BE49-F238E27FC236}">
                <a16:creationId xmlns:a16="http://schemas.microsoft.com/office/drawing/2014/main" id="{45F64E6B-2845-088A-01F9-37E189578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742" y="3463727"/>
            <a:ext cx="1819275" cy="885825"/>
          </a:xfrm>
          <a:prstGeom prst="rect">
            <a:avLst/>
          </a:prstGeom>
          <a:effectLst>
            <a:outerShdw blurRad="50800" dist="50800" dir="5400000" algn="ctr" rotWithShape="0">
              <a:schemeClr val="accent2"/>
            </a:outerShdw>
          </a:effectLst>
        </p:spPr>
      </p:pic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CBBAAC41-5B7C-3C48-A10B-B1450E0AB8B8}"/>
              </a:ext>
            </a:extLst>
          </p:cNvPr>
          <p:cNvSpPr txBox="1">
            <a:spLocks/>
          </p:cNvSpPr>
          <p:nvPr/>
        </p:nvSpPr>
        <p:spPr>
          <a:xfrm>
            <a:off x="2509105" y="1029565"/>
            <a:ext cx="2420703" cy="391982"/>
          </a:xfrm>
          <a:prstGeom prst="rect">
            <a:avLst/>
          </a:prstGeom>
        </p:spPr>
        <p:txBody>
          <a:bodyPr vert="horz" lIns="0" tIns="0" rIns="0" bIns="0" rtlCol="0">
            <a:normAutofit fontScale="77500" lnSpcReduction="20000"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(Blue)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99D95B7-250D-211C-B290-E2E1AEB1E9BF}"/>
              </a:ext>
            </a:extLst>
          </p:cNvPr>
          <p:cNvSpPr txBox="1">
            <a:spLocks/>
          </p:cNvSpPr>
          <p:nvPr/>
        </p:nvSpPr>
        <p:spPr>
          <a:xfrm>
            <a:off x="2451651" y="1315921"/>
            <a:ext cx="2420703" cy="391982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10000"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(Red)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7" name="Picture 26" descr="A black rectangular object with a bookmark&#10;&#10;AI-generated content may be incorrect.">
            <a:extLst>
              <a:ext uri="{FF2B5EF4-FFF2-40B4-BE49-F238E27FC236}">
                <a16:creationId xmlns:a16="http://schemas.microsoft.com/office/drawing/2014/main" id="{44D7C45A-349E-B533-9262-FEB95DCFD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742" y="2651130"/>
            <a:ext cx="1819275" cy="885825"/>
          </a:xfrm>
          <a:prstGeom prst="rect">
            <a:avLst/>
          </a:prstGeom>
          <a:effectLst>
            <a:outerShdw blurRad="50800" dist="50800" dir="5400000" algn="ctr" rotWithShape="0">
              <a:srgbClr val="FF0000"/>
            </a:outerShdw>
          </a:effectLst>
        </p:spPr>
      </p:pic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94A8691-A711-7E65-FB5B-94C11F39DE82}"/>
              </a:ext>
            </a:extLst>
          </p:cNvPr>
          <p:cNvSpPr txBox="1">
            <a:spLocks/>
          </p:cNvSpPr>
          <p:nvPr/>
        </p:nvSpPr>
        <p:spPr>
          <a:xfrm>
            <a:off x="2451652" y="1639142"/>
            <a:ext cx="2420703" cy="391982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(Red)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663"/>
    </mc:Choice>
    <mc:Fallback>
      <p:transition spd="slow" advTm="236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9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42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54167E-6 3.7037E-7 L -0.00221 -0.13958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-6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000"/>
                            </p:stCondLst>
                            <p:childTnLst>
                              <p:par>
                                <p:cTn id="22" presetID="2" presetClass="entr" presetSubtype="9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0"/>
                            </p:stCondLst>
                            <p:childTnLst>
                              <p:par>
                                <p:cTn id="27" presetID="42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0221 -0.13958 L -0.00221 -0.26551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0"/>
                            </p:stCondLst>
                            <p:childTnLst>
                              <p:par>
                                <p:cTn id="3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3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4000"/>
                            </p:stCondLst>
                            <p:childTnLst>
                              <p:par>
                                <p:cTn id="36" presetID="2" presetClass="exit" presetSubtype="9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000"/>
                            </p:stCondLst>
                            <p:childTnLst>
                              <p:par>
                                <p:cTn id="41" presetID="42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0221 -0.26551 L -0.00221 -0.13958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26" grpId="0"/>
      <p:bldP spid="26" grpId="1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A271-8875-6BCE-0A4A-542683BB3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09043" y="1"/>
            <a:ext cx="2782956" cy="1033670"/>
          </a:xfrm>
        </p:spPr>
        <p:txBody>
          <a:bodyPr/>
          <a:lstStyle/>
          <a:p>
            <a:r>
              <a:rPr lang="en-US" dirty="0"/>
              <a:t>Queue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8708013-59F4-92C6-832E-A1344F638B84}"/>
              </a:ext>
            </a:extLst>
          </p:cNvPr>
          <p:cNvSpPr txBox="1">
            <a:spLocks/>
          </p:cNvSpPr>
          <p:nvPr/>
        </p:nvSpPr>
        <p:spPr>
          <a:xfrm>
            <a:off x="7500730" y="1577008"/>
            <a:ext cx="5221355" cy="154383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A FIFO (First In, First Out) data structure where elements are added at the rear and removed from the front in a linear order.</a:t>
            </a:r>
          </a:p>
        </p:txBody>
      </p:sp>
      <p:pic>
        <p:nvPicPr>
          <p:cNvPr id="8" name="Graphic 7" descr="Man with solid fill">
            <a:extLst>
              <a:ext uri="{FF2B5EF4-FFF2-40B4-BE49-F238E27FC236}">
                <a16:creationId xmlns:a16="http://schemas.microsoft.com/office/drawing/2014/main" id="{D7349264-B319-B5AA-F3B8-D7A9251F55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31774" y="5025887"/>
            <a:ext cx="914400" cy="914400"/>
          </a:xfrm>
          <a:prstGeom prst="rect">
            <a:avLst/>
          </a:prstGeom>
        </p:spPr>
      </p:pic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D6801AB1-BF4E-1B4F-627D-654283BA99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38330" y="5025887"/>
            <a:ext cx="914400" cy="914400"/>
          </a:xfrm>
          <a:prstGeom prst="rect">
            <a:avLst/>
          </a:prstGeom>
        </p:spPr>
      </p:pic>
      <p:pic>
        <p:nvPicPr>
          <p:cNvPr id="15" name="Graphic 14" descr="Man with solid fill">
            <a:extLst>
              <a:ext uri="{FF2B5EF4-FFF2-40B4-BE49-F238E27FC236}">
                <a16:creationId xmlns:a16="http://schemas.microsoft.com/office/drawing/2014/main" id="{1756DEF5-1ED8-FB76-672A-F9F9AA5733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91196" y="5025887"/>
            <a:ext cx="914400" cy="9144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155C3BC2-8AE4-E3AC-7AB8-0FA4F02169CC}"/>
              </a:ext>
            </a:extLst>
          </p:cNvPr>
          <p:cNvGrpSpPr/>
          <p:nvPr/>
        </p:nvGrpSpPr>
        <p:grpSpPr>
          <a:xfrm>
            <a:off x="2530075" y="3120841"/>
            <a:ext cx="717798" cy="1717674"/>
            <a:chOff x="2777879" y="2926271"/>
            <a:chExt cx="717798" cy="1717674"/>
          </a:xfrm>
        </p:grpSpPr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9B3B869D-BF35-D8D0-6D38-625ADFFCAC96}"/>
                </a:ext>
              </a:extLst>
            </p:cNvPr>
            <p:cNvSpPr/>
            <p:nvPr/>
          </p:nvSpPr>
          <p:spPr>
            <a:xfrm rot="5400000">
              <a:off x="2431774" y="3610276"/>
              <a:ext cx="1417982" cy="64935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 Placeholder 3">
              <a:extLst>
                <a:ext uri="{FF2B5EF4-FFF2-40B4-BE49-F238E27FC236}">
                  <a16:creationId xmlns:a16="http://schemas.microsoft.com/office/drawing/2014/main" id="{3EC1F315-1C49-4B8F-E1E6-E95FE3D2435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77879" y="2926271"/>
              <a:ext cx="717798" cy="206230"/>
            </a:xfrm>
            <a:prstGeom prst="rect">
              <a:avLst/>
            </a:prstGeom>
          </p:spPr>
          <p:txBody>
            <a:bodyPr vert="horz" lIns="0" tIns="0" rIns="0" bIns="0" rtlCol="0">
              <a:normAutofit fontScale="77500" lnSpcReduction="20000"/>
            </a:bodyPr>
            <a:lstStyle>
              <a:lvl1pPr marL="0" indent="0" algn="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100" b="1" dirty="0"/>
                <a:t>FRONT</a:t>
              </a:r>
            </a:p>
            <a:p>
              <a:endParaRPr lang="en-US" dirty="0"/>
            </a:p>
            <a:p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1C7A845-C172-C198-7CD9-BC757F767098}"/>
              </a:ext>
            </a:extLst>
          </p:cNvPr>
          <p:cNvGrpSpPr/>
          <p:nvPr/>
        </p:nvGrpSpPr>
        <p:grpSpPr>
          <a:xfrm>
            <a:off x="4756210" y="3120840"/>
            <a:ext cx="674541" cy="1693534"/>
            <a:chOff x="2790902" y="2950411"/>
            <a:chExt cx="674541" cy="1693534"/>
          </a:xfrm>
        </p:grpSpPr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30FCEFEA-6A84-CA18-3723-7499CC4AE808}"/>
                </a:ext>
              </a:extLst>
            </p:cNvPr>
            <p:cNvSpPr/>
            <p:nvPr/>
          </p:nvSpPr>
          <p:spPr>
            <a:xfrm rot="5400000">
              <a:off x="2431774" y="3610276"/>
              <a:ext cx="1417982" cy="64935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 Placeholder 3">
              <a:extLst>
                <a:ext uri="{FF2B5EF4-FFF2-40B4-BE49-F238E27FC236}">
                  <a16:creationId xmlns:a16="http://schemas.microsoft.com/office/drawing/2014/main" id="{EC9D15C5-D8A8-1562-9F16-2408F62ED02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90902" y="2950411"/>
              <a:ext cx="649356" cy="182089"/>
            </a:xfrm>
            <a:prstGeom prst="rect">
              <a:avLst/>
            </a:prstGeom>
          </p:spPr>
          <p:txBody>
            <a:bodyPr vert="horz" lIns="0" tIns="0" rIns="0" bIns="0" rtlCol="0">
              <a:normAutofit fontScale="77500" lnSpcReduction="20000"/>
            </a:bodyPr>
            <a:lstStyle>
              <a:lvl1pPr marL="0" indent="0" algn="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100" b="1" dirty="0"/>
                <a:t>REAR</a:t>
              </a:r>
            </a:p>
            <a:p>
              <a:endParaRPr lang="en-US" dirty="0"/>
            </a:p>
            <a:p>
              <a:endParaRPr lang="en-US" dirty="0"/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EAFF8CD-A8E6-D6C9-EB07-DE745076D624}"/>
              </a:ext>
            </a:extLst>
          </p:cNvPr>
          <p:cNvCxnSpPr>
            <a:cxnSpLocks/>
          </p:cNvCxnSpPr>
          <p:nvPr/>
        </p:nvCxnSpPr>
        <p:spPr>
          <a:xfrm>
            <a:off x="0" y="4839653"/>
            <a:ext cx="873457" cy="0"/>
          </a:xfrm>
          <a:prstGeom prst="line">
            <a:avLst/>
          </a:prstGeom>
          <a:ln w="7302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C8589F-2DB8-D600-F67C-2344406EC268}"/>
              </a:ext>
            </a:extLst>
          </p:cNvPr>
          <p:cNvCxnSpPr>
            <a:cxnSpLocks/>
          </p:cNvCxnSpPr>
          <p:nvPr/>
        </p:nvCxnSpPr>
        <p:spPr>
          <a:xfrm>
            <a:off x="0" y="6220352"/>
            <a:ext cx="873457" cy="0"/>
          </a:xfrm>
          <a:prstGeom prst="line">
            <a:avLst/>
          </a:prstGeom>
          <a:ln w="7302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4DA2E61-5362-2480-9A9F-EDF97CEF82C7}"/>
              </a:ext>
            </a:extLst>
          </p:cNvPr>
          <p:cNvSpPr txBox="1"/>
          <p:nvPr/>
        </p:nvSpPr>
        <p:spPr>
          <a:xfrm>
            <a:off x="139210" y="5345337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Bus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DEEB4B01-1924-80ED-2D1B-F393995EA8EB}"/>
              </a:ext>
            </a:extLst>
          </p:cNvPr>
          <p:cNvSpPr txBox="1">
            <a:spLocks/>
          </p:cNvSpPr>
          <p:nvPr/>
        </p:nvSpPr>
        <p:spPr>
          <a:xfrm>
            <a:off x="2578895" y="1174200"/>
            <a:ext cx="3000268" cy="2211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queue.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enqueue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(Green)</a:t>
            </a:r>
          </a:p>
          <a:p>
            <a:endParaRPr lang="en-US" sz="1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6" name="Graphic 35" descr="Man with solid fill">
            <a:extLst>
              <a:ext uri="{FF2B5EF4-FFF2-40B4-BE49-F238E27FC236}">
                <a16:creationId xmlns:a16="http://schemas.microsoft.com/office/drawing/2014/main" id="{A1FA4F2A-186E-A51A-FEA3-22CE3DD1C01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64763" y="5025887"/>
            <a:ext cx="914400" cy="914400"/>
          </a:xfrm>
          <a:prstGeom prst="rect">
            <a:avLst/>
          </a:prstGeom>
        </p:spPr>
      </p:pic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D992365-0209-72E3-6DC9-B12F971E875B}"/>
              </a:ext>
            </a:extLst>
          </p:cNvPr>
          <p:cNvSpPr txBox="1">
            <a:spLocks/>
          </p:cNvSpPr>
          <p:nvPr/>
        </p:nvSpPr>
        <p:spPr>
          <a:xfrm>
            <a:off x="2530075" y="1473893"/>
            <a:ext cx="3161959" cy="2211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queue.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enqueue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(Orange)</a:t>
            </a:r>
          </a:p>
          <a:p>
            <a:endParaRPr lang="en-US" sz="1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8" name="Graphic 37" descr="Man with solid fill">
            <a:extLst>
              <a:ext uri="{FF2B5EF4-FFF2-40B4-BE49-F238E27FC236}">
                <a16:creationId xmlns:a16="http://schemas.microsoft.com/office/drawing/2014/main" id="{9CE6CC6F-FAD5-3DA1-ED0E-056D79DE979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17629" y="5025887"/>
            <a:ext cx="914400" cy="914400"/>
          </a:xfrm>
          <a:prstGeom prst="rect">
            <a:avLst/>
          </a:prstGeom>
        </p:spPr>
      </p:pic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E10A004F-297E-FB09-51D0-64ABEEEDBB4C}"/>
              </a:ext>
            </a:extLst>
          </p:cNvPr>
          <p:cNvSpPr txBox="1">
            <a:spLocks/>
          </p:cNvSpPr>
          <p:nvPr/>
        </p:nvSpPr>
        <p:spPr>
          <a:xfrm>
            <a:off x="2629237" y="1788521"/>
            <a:ext cx="2801514" cy="206230"/>
          </a:xfrm>
          <a:prstGeom prst="rect">
            <a:avLst/>
          </a:prstGeom>
        </p:spPr>
        <p:txBody>
          <a:bodyPr vert="horz" lIns="0" tIns="0" rIns="0" bIns="0" rtlCol="0">
            <a:normAutofit fontScale="77500" lnSpcReduction="20000"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queue.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dequeue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(Blue)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38AE72B-5EA0-908A-2D41-61246BCDE674}"/>
              </a:ext>
            </a:extLst>
          </p:cNvPr>
          <p:cNvCxnSpPr>
            <a:cxnSpLocks/>
          </p:cNvCxnSpPr>
          <p:nvPr/>
        </p:nvCxnSpPr>
        <p:spPr>
          <a:xfrm>
            <a:off x="11318543" y="4674000"/>
            <a:ext cx="873457" cy="0"/>
          </a:xfrm>
          <a:prstGeom prst="line">
            <a:avLst/>
          </a:prstGeom>
          <a:ln w="7302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55F4F84-62AE-D745-6FD6-E334A9228C14}"/>
              </a:ext>
            </a:extLst>
          </p:cNvPr>
          <p:cNvCxnSpPr>
            <a:cxnSpLocks/>
          </p:cNvCxnSpPr>
          <p:nvPr/>
        </p:nvCxnSpPr>
        <p:spPr>
          <a:xfrm>
            <a:off x="11318543" y="6098609"/>
            <a:ext cx="873457" cy="0"/>
          </a:xfrm>
          <a:prstGeom prst="line">
            <a:avLst/>
          </a:prstGeom>
          <a:ln w="7302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21F7182-D2E6-2545-F908-4DAF67A7C620}"/>
              </a:ext>
            </a:extLst>
          </p:cNvPr>
          <p:cNvSpPr txBox="1"/>
          <p:nvPr/>
        </p:nvSpPr>
        <p:spPr>
          <a:xfrm>
            <a:off x="11250716" y="5160671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School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919F9448-E0E4-9EBE-9C5E-35560E332954}"/>
              </a:ext>
            </a:extLst>
          </p:cNvPr>
          <p:cNvSpPr txBox="1">
            <a:spLocks/>
          </p:cNvSpPr>
          <p:nvPr/>
        </p:nvSpPr>
        <p:spPr>
          <a:xfrm>
            <a:off x="2629237" y="2038542"/>
            <a:ext cx="2801514" cy="206230"/>
          </a:xfrm>
          <a:prstGeom prst="rect">
            <a:avLst/>
          </a:prstGeom>
        </p:spPr>
        <p:txBody>
          <a:bodyPr vert="horz" lIns="0" tIns="0" rIns="0" bIns="0" rtlCol="0">
            <a:normAutofit fontScale="77500" lnSpcReduction="20000"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queue.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dequeue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(Red)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1235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102"/>
    </mc:Choice>
    <mc:Fallback>
      <p:transition spd="slow" advTm="231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42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66667E-6 -2.22222E-6 L 0.0931 -0.00069 " pathEditMode="relative" rAng="0" ptsTypes="AA">
                                      <p:cBhvr>
                                        <p:cTn id="14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48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50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500"/>
                            </p:stCondLst>
                            <p:childTnLst>
                              <p:par>
                                <p:cTn id="27" presetID="42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931 -0.00069 L 0.18659 0.0011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7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500"/>
                            </p:stCondLst>
                            <p:childTnLst>
                              <p:par>
                                <p:cTn id="3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500"/>
                            </p:stCondLst>
                            <p:childTnLst>
                              <p:par>
                                <p:cTn id="36" presetID="2" presetClass="exit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0"/>
                            </p:stCondLst>
                            <p:childTnLst>
                              <p:par>
                                <p:cTn id="41" presetID="42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8.33333E-7 -4.07407E-6 L 0.08906 -0.00069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53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0"/>
                            </p:stCondLst>
                            <p:childTnLst>
                              <p:par>
                                <p:cTn id="4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0"/>
                            </p:stCondLst>
                            <p:childTnLst>
                              <p:par>
                                <p:cTn id="50" presetID="2" presetClass="exit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7000"/>
                            </p:stCondLst>
                            <p:childTnLst>
                              <p:par>
                                <p:cTn id="55" presetID="42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8906 -0.00069 L 0.18073 -0.00185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27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5" grpId="1"/>
      <p:bldP spid="37" grpId="0"/>
      <p:bldP spid="37" grpId="1"/>
      <p:bldP spid="39" grpId="0"/>
      <p:bldP spid="39" grpId="1"/>
      <p:bldP spid="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68171-F501-5EC9-8849-5D0FE73AE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84542" y="46028"/>
            <a:ext cx="4007458" cy="726645"/>
          </a:xfrm>
        </p:spPr>
        <p:txBody>
          <a:bodyPr/>
          <a:lstStyle/>
          <a:p>
            <a:r>
              <a:rPr lang="en-US" dirty="0" err="1"/>
              <a:t>LinkeDLISt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A9D03-6CF8-D31E-2E06-88AEBCEF7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9528" y="898771"/>
            <a:ext cx="4472472" cy="1705484"/>
          </a:xfrm>
        </p:spPr>
        <p:txBody>
          <a:bodyPr>
            <a:noAutofit/>
          </a:bodyPr>
          <a:lstStyle/>
          <a:p>
            <a:r>
              <a:rPr lang="en-US" sz="2000" dirty="0"/>
              <a:t>A linear data structure where each element (node) contains data and a reference (pointer) to the next element, allowing flexible insertion or removal of elements at any position.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97A31D3-AE94-7424-6CAD-A30A73319A3B}"/>
              </a:ext>
            </a:extLst>
          </p:cNvPr>
          <p:cNvGrpSpPr/>
          <p:nvPr/>
        </p:nvGrpSpPr>
        <p:grpSpPr>
          <a:xfrm>
            <a:off x="4837290" y="5203721"/>
            <a:ext cx="1165697" cy="862080"/>
            <a:chOff x="7029587" y="5261100"/>
            <a:chExt cx="1165697" cy="86208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785B7BC-55AA-5E2B-F31C-B1D63F294A05}"/>
                </a:ext>
              </a:extLst>
            </p:cNvPr>
            <p:cNvGrpSpPr/>
            <p:nvPr/>
          </p:nvGrpSpPr>
          <p:grpSpPr>
            <a:xfrm>
              <a:off x="7029587" y="5261100"/>
              <a:ext cx="1165697" cy="862080"/>
              <a:chOff x="7018845" y="5261100"/>
              <a:chExt cx="1165697" cy="862080"/>
            </a:xfrm>
          </p:grpSpPr>
          <p:sp>
            <p:nvSpPr>
              <p:cNvPr id="16" name="Flowchart: Process 15">
                <a:extLst>
                  <a:ext uri="{FF2B5EF4-FFF2-40B4-BE49-F238E27FC236}">
                    <a16:creationId xmlns:a16="http://schemas.microsoft.com/office/drawing/2014/main" id="{EF194E3A-1566-86FB-7C68-8288A8BD193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029587" y="5261100"/>
                <a:ext cx="1154955" cy="674830"/>
              </a:xfrm>
              <a:prstGeom prst="flowChartProcess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17" name="Circle: Hollow 16">
                <a:extLst>
                  <a:ext uri="{FF2B5EF4-FFF2-40B4-BE49-F238E27FC236}">
                    <a16:creationId xmlns:a16="http://schemas.microsoft.com/office/drawing/2014/main" id="{A53EE79B-120D-15FF-55F9-E76EA03EDB2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018845" y="5753050"/>
                <a:ext cx="365760" cy="365760"/>
              </a:xfrm>
              <a:prstGeom prst="donu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Circle: Hollow 17">
                <a:extLst>
                  <a:ext uri="{FF2B5EF4-FFF2-40B4-BE49-F238E27FC236}">
                    <a16:creationId xmlns:a16="http://schemas.microsoft.com/office/drawing/2014/main" id="{DE0263DC-A32A-5E0C-E9E6-A163C5713C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18782" y="5757420"/>
                <a:ext cx="365760" cy="365760"/>
              </a:xfrm>
              <a:prstGeom prst="donu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" name="Flowchart: Process 14">
              <a:extLst>
                <a:ext uri="{FF2B5EF4-FFF2-40B4-BE49-F238E27FC236}">
                  <a16:creationId xmlns:a16="http://schemas.microsoft.com/office/drawing/2014/main" id="{070BFC1F-2839-83BF-FFAB-79381828EC6A}"/>
                </a:ext>
              </a:extLst>
            </p:cNvPr>
            <p:cNvSpPr/>
            <p:nvPr/>
          </p:nvSpPr>
          <p:spPr>
            <a:xfrm>
              <a:off x="7029587" y="5261100"/>
              <a:ext cx="204717" cy="674830"/>
            </a:xfrm>
            <a:prstGeom prst="flowChartProcess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6C0D028-5AC5-842B-44FD-CC381A51135C}"/>
              </a:ext>
            </a:extLst>
          </p:cNvPr>
          <p:cNvGrpSpPr/>
          <p:nvPr/>
        </p:nvGrpSpPr>
        <p:grpSpPr>
          <a:xfrm>
            <a:off x="3203020" y="5199351"/>
            <a:ext cx="1165697" cy="862080"/>
            <a:chOff x="7029587" y="5261100"/>
            <a:chExt cx="1165697" cy="86208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D45F109-DE2D-01BA-6C38-26FDC2AA3615}"/>
                </a:ext>
              </a:extLst>
            </p:cNvPr>
            <p:cNvGrpSpPr/>
            <p:nvPr/>
          </p:nvGrpSpPr>
          <p:grpSpPr>
            <a:xfrm>
              <a:off x="7029587" y="5261100"/>
              <a:ext cx="1165697" cy="862080"/>
              <a:chOff x="7018845" y="5261100"/>
              <a:chExt cx="1165697" cy="862080"/>
            </a:xfrm>
          </p:grpSpPr>
          <p:sp>
            <p:nvSpPr>
              <p:cNvPr id="22" name="Flowchart: Process 21">
                <a:extLst>
                  <a:ext uri="{FF2B5EF4-FFF2-40B4-BE49-F238E27FC236}">
                    <a16:creationId xmlns:a16="http://schemas.microsoft.com/office/drawing/2014/main" id="{EA49361D-7E70-ABB6-A497-C1BCDE630F0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029587" y="5261100"/>
                <a:ext cx="1154955" cy="674830"/>
              </a:xfrm>
              <a:prstGeom prst="flowChartProcess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23" name="Circle: Hollow 22">
                <a:extLst>
                  <a:ext uri="{FF2B5EF4-FFF2-40B4-BE49-F238E27FC236}">
                    <a16:creationId xmlns:a16="http://schemas.microsoft.com/office/drawing/2014/main" id="{4FDEFE31-FE94-FEB2-59E6-2053E0C1E03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018845" y="5753050"/>
                <a:ext cx="365760" cy="365760"/>
              </a:xfrm>
              <a:prstGeom prst="donu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Circle: Hollow 23">
                <a:extLst>
                  <a:ext uri="{FF2B5EF4-FFF2-40B4-BE49-F238E27FC236}">
                    <a16:creationId xmlns:a16="http://schemas.microsoft.com/office/drawing/2014/main" id="{270FBEF1-C998-98AD-DC49-B20A071E8AD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18782" y="5757420"/>
                <a:ext cx="365760" cy="365760"/>
              </a:xfrm>
              <a:prstGeom prst="donu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Flowchart: Process 20">
              <a:extLst>
                <a:ext uri="{FF2B5EF4-FFF2-40B4-BE49-F238E27FC236}">
                  <a16:creationId xmlns:a16="http://schemas.microsoft.com/office/drawing/2014/main" id="{E1A18A13-2B29-A9CE-D42F-15963DD4FD12}"/>
                </a:ext>
              </a:extLst>
            </p:cNvPr>
            <p:cNvSpPr/>
            <p:nvPr/>
          </p:nvSpPr>
          <p:spPr>
            <a:xfrm>
              <a:off x="7029587" y="5261100"/>
              <a:ext cx="204717" cy="674830"/>
            </a:xfrm>
            <a:prstGeom prst="flowChartProcess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7A2A2B3-13B8-3853-12B3-5C1D4D7EA2C6}"/>
              </a:ext>
            </a:extLst>
          </p:cNvPr>
          <p:cNvGrpSpPr/>
          <p:nvPr/>
        </p:nvGrpSpPr>
        <p:grpSpPr>
          <a:xfrm>
            <a:off x="5820107" y="5208091"/>
            <a:ext cx="1806408" cy="862080"/>
            <a:chOff x="5820107" y="5208091"/>
            <a:chExt cx="1806408" cy="86208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ED0F651-641D-91EA-D9E0-D983F82D95CC}"/>
                </a:ext>
              </a:extLst>
            </p:cNvPr>
            <p:cNvGrpSpPr/>
            <p:nvPr/>
          </p:nvGrpSpPr>
          <p:grpSpPr>
            <a:xfrm>
              <a:off x="6460818" y="5208091"/>
              <a:ext cx="1165697" cy="862080"/>
              <a:chOff x="7029587" y="5261100"/>
              <a:chExt cx="1165697" cy="862080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B38F521-FA56-BFEB-7AF4-71C00F6E5FB8}"/>
                  </a:ext>
                </a:extLst>
              </p:cNvPr>
              <p:cNvGrpSpPr/>
              <p:nvPr/>
            </p:nvGrpSpPr>
            <p:grpSpPr>
              <a:xfrm>
                <a:off x="7029587" y="5261100"/>
                <a:ext cx="1165697" cy="862080"/>
                <a:chOff x="7018845" y="5261100"/>
                <a:chExt cx="1165697" cy="862080"/>
              </a:xfrm>
            </p:grpSpPr>
            <p:sp>
              <p:nvSpPr>
                <p:cNvPr id="6" name="Flowchart: Process 5">
                  <a:extLst>
                    <a:ext uri="{FF2B5EF4-FFF2-40B4-BE49-F238E27FC236}">
                      <a16:creationId xmlns:a16="http://schemas.microsoft.com/office/drawing/2014/main" id="{E48AE64D-7CD3-C184-072A-A765A28CBAB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029587" y="5261100"/>
                  <a:ext cx="1154955" cy="674830"/>
                </a:xfrm>
                <a:prstGeom prst="flowChartProcess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A</a:t>
                  </a:r>
                </a:p>
              </p:txBody>
            </p:sp>
            <p:sp>
              <p:nvSpPr>
                <p:cNvPr id="7" name="Circle: Hollow 6">
                  <a:extLst>
                    <a:ext uri="{FF2B5EF4-FFF2-40B4-BE49-F238E27FC236}">
                      <a16:creationId xmlns:a16="http://schemas.microsoft.com/office/drawing/2014/main" id="{73E5CE9B-1E06-7851-14B5-BAFBB5D9504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018845" y="5753050"/>
                  <a:ext cx="365760" cy="365760"/>
                </a:xfrm>
                <a:prstGeom prst="donut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" name="Circle: Hollow 7">
                  <a:extLst>
                    <a:ext uri="{FF2B5EF4-FFF2-40B4-BE49-F238E27FC236}">
                      <a16:creationId xmlns:a16="http://schemas.microsoft.com/office/drawing/2014/main" id="{448D529D-F389-555B-1931-C16FDE20F47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818782" y="5757420"/>
                  <a:ext cx="365760" cy="365760"/>
                </a:xfrm>
                <a:prstGeom prst="donut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0" name="Flowchart: Process 9">
                <a:extLst>
                  <a:ext uri="{FF2B5EF4-FFF2-40B4-BE49-F238E27FC236}">
                    <a16:creationId xmlns:a16="http://schemas.microsoft.com/office/drawing/2014/main" id="{98E61E36-980F-3F43-1572-802C6E020B1E}"/>
                  </a:ext>
                </a:extLst>
              </p:cNvPr>
              <p:cNvSpPr/>
              <p:nvPr/>
            </p:nvSpPr>
            <p:spPr>
              <a:xfrm>
                <a:off x="7029587" y="5261100"/>
                <a:ext cx="204717" cy="674830"/>
              </a:xfrm>
              <a:prstGeom prst="flowChartProcess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AF0B1BC-3055-B90A-1F84-39FC0BDEBA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20107" y="5545506"/>
              <a:ext cx="743069" cy="0"/>
            </a:xfrm>
            <a:prstGeom prst="straightConnector1">
              <a:avLst/>
            </a:prstGeom>
            <a:ln w="666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F01A0B8-7F04-7DFE-C299-A28FE941CD9C}"/>
              </a:ext>
            </a:extLst>
          </p:cNvPr>
          <p:cNvCxnSpPr>
            <a:cxnSpLocks/>
          </p:cNvCxnSpPr>
          <p:nvPr/>
        </p:nvCxnSpPr>
        <p:spPr>
          <a:xfrm flipH="1">
            <a:off x="4196579" y="5536766"/>
            <a:ext cx="743069" cy="0"/>
          </a:xfrm>
          <a:prstGeom prst="straightConnector1">
            <a:avLst/>
          </a:prstGeom>
          <a:ln w="666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A6D79AE-C074-A7B4-5C85-F06F7FDB706A}"/>
              </a:ext>
            </a:extLst>
          </p:cNvPr>
          <p:cNvCxnSpPr>
            <a:cxnSpLocks/>
          </p:cNvCxnSpPr>
          <p:nvPr/>
        </p:nvCxnSpPr>
        <p:spPr>
          <a:xfrm flipH="1">
            <a:off x="7443635" y="5591657"/>
            <a:ext cx="743069" cy="0"/>
          </a:xfrm>
          <a:prstGeom prst="straightConnector1">
            <a:avLst/>
          </a:prstGeom>
          <a:ln w="666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A8B88A5-A1DC-F712-0B8E-E9028FC1CC1B}"/>
              </a:ext>
            </a:extLst>
          </p:cNvPr>
          <p:cNvCxnSpPr>
            <a:cxnSpLocks/>
          </p:cNvCxnSpPr>
          <p:nvPr/>
        </p:nvCxnSpPr>
        <p:spPr>
          <a:xfrm flipH="1">
            <a:off x="2562309" y="5536766"/>
            <a:ext cx="743069" cy="0"/>
          </a:xfrm>
          <a:prstGeom prst="straightConnector1">
            <a:avLst/>
          </a:prstGeom>
          <a:ln w="666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7BDDBED-0277-C02B-5EAC-8CCAD3F63686}"/>
              </a:ext>
            </a:extLst>
          </p:cNvPr>
          <p:cNvSpPr txBox="1"/>
          <p:nvPr/>
        </p:nvSpPr>
        <p:spPr>
          <a:xfrm>
            <a:off x="1968430" y="536084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DA6C4B4-D5D4-6E36-C796-DB8F2175653D}"/>
              </a:ext>
            </a:extLst>
          </p:cNvPr>
          <p:cNvGrpSpPr/>
          <p:nvPr/>
        </p:nvGrpSpPr>
        <p:grpSpPr>
          <a:xfrm>
            <a:off x="3468039" y="3237208"/>
            <a:ext cx="717798" cy="1717674"/>
            <a:chOff x="2777879" y="2926271"/>
            <a:chExt cx="717798" cy="1717674"/>
          </a:xfrm>
        </p:grpSpPr>
        <p:sp>
          <p:nvSpPr>
            <p:cNvPr id="33" name="Arrow: Right 32">
              <a:extLst>
                <a:ext uri="{FF2B5EF4-FFF2-40B4-BE49-F238E27FC236}">
                  <a16:creationId xmlns:a16="http://schemas.microsoft.com/office/drawing/2014/main" id="{2A848252-ED94-AA15-B337-C14696F04625}"/>
                </a:ext>
              </a:extLst>
            </p:cNvPr>
            <p:cNvSpPr/>
            <p:nvPr/>
          </p:nvSpPr>
          <p:spPr>
            <a:xfrm rot="5400000">
              <a:off x="2431774" y="3610276"/>
              <a:ext cx="1417982" cy="64935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Text Placeholder 3">
              <a:extLst>
                <a:ext uri="{FF2B5EF4-FFF2-40B4-BE49-F238E27FC236}">
                  <a16:creationId xmlns:a16="http://schemas.microsoft.com/office/drawing/2014/main" id="{306530BA-C178-CF3F-4BA8-686299ACF483}"/>
                </a:ext>
              </a:extLst>
            </p:cNvPr>
            <p:cNvSpPr txBox="1"/>
            <p:nvPr/>
          </p:nvSpPr>
          <p:spPr>
            <a:xfrm>
              <a:off x="2777879" y="2926271"/>
              <a:ext cx="717798" cy="206230"/>
            </a:xfrm>
            <a:prstGeom prst="rect">
              <a:avLst/>
            </a:prstGeom>
          </p:spPr>
          <p:txBody>
            <a:bodyPr vert="horz" lIns="0" tIns="0" rIns="0" bIns="0" rtlCol="0">
              <a:normAutofit fontScale="85000" lnSpcReduction="20000"/>
            </a:bodyPr>
            <a:lstStyle>
              <a:lvl1pPr marL="0" indent="0" algn="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100" b="1" dirty="0"/>
                <a:t>TAIL</a:t>
              </a:r>
            </a:p>
            <a:p>
              <a:endParaRPr lang="en-US" dirty="0"/>
            </a:p>
            <a:p>
              <a:endParaRPr lang="en-US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563FD74-B0E8-57BF-12D0-F86A10268531}"/>
              </a:ext>
            </a:extLst>
          </p:cNvPr>
          <p:cNvGrpSpPr/>
          <p:nvPr/>
        </p:nvGrpSpPr>
        <p:grpSpPr>
          <a:xfrm>
            <a:off x="8186704" y="3160779"/>
            <a:ext cx="717798" cy="1717674"/>
            <a:chOff x="2777879" y="2926271"/>
            <a:chExt cx="717798" cy="1717674"/>
          </a:xfrm>
        </p:grpSpPr>
        <p:sp>
          <p:nvSpPr>
            <p:cNvPr id="36" name="Arrow: Right 35">
              <a:extLst>
                <a:ext uri="{FF2B5EF4-FFF2-40B4-BE49-F238E27FC236}">
                  <a16:creationId xmlns:a16="http://schemas.microsoft.com/office/drawing/2014/main" id="{C9A58BAC-541B-C236-16C4-832FD497BF8B}"/>
                </a:ext>
              </a:extLst>
            </p:cNvPr>
            <p:cNvSpPr/>
            <p:nvPr/>
          </p:nvSpPr>
          <p:spPr>
            <a:xfrm rot="5400000">
              <a:off x="2431774" y="3610276"/>
              <a:ext cx="1417982" cy="64935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Text Placeholder 3">
              <a:extLst>
                <a:ext uri="{FF2B5EF4-FFF2-40B4-BE49-F238E27FC236}">
                  <a16:creationId xmlns:a16="http://schemas.microsoft.com/office/drawing/2014/main" id="{E3716386-D5FE-735C-6501-FA933FD8749F}"/>
                </a:ext>
              </a:extLst>
            </p:cNvPr>
            <p:cNvSpPr txBox="1"/>
            <p:nvPr/>
          </p:nvSpPr>
          <p:spPr>
            <a:xfrm>
              <a:off x="2777879" y="2926271"/>
              <a:ext cx="717798" cy="206230"/>
            </a:xfrm>
            <a:prstGeom prst="rect">
              <a:avLst/>
            </a:prstGeom>
          </p:spPr>
          <p:txBody>
            <a:bodyPr vert="horz" lIns="0" tIns="0" rIns="0" bIns="0" rtlCol="0">
              <a:normAutofit fontScale="85000" lnSpcReduction="20000"/>
            </a:bodyPr>
            <a:lstStyle>
              <a:lvl1pPr marL="0" indent="0" algn="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100" b="1" dirty="0"/>
                <a:t>HEAD</a:t>
              </a:r>
            </a:p>
            <a:p>
              <a:endParaRPr lang="en-US" dirty="0"/>
            </a:p>
            <a:p>
              <a:endParaRPr lang="en-US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B94ACBA-E1CB-190C-AB5E-021168EB24FB}"/>
              </a:ext>
            </a:extLst>
          </p:cNvPr>
          <p:cNvGrpSpPr/>
          <p:nvPr/>
        </p:nvGrpSpPr>
        <p:grpSpPr>
          <a:xfrm>
            <a:off x="7938295" y="4935751"/>
            <a:ext cx="1311812" cy="1311812"/>
            <a:chOff x="7944644" y="4983225"/>
            <a:chExt cx="1311812" cy="1311812"/>
          </a:xfrm>
        </p:grpSpPr>
        <p:pic>
          <p:nvPicPr>
            <p:cNvPr id="5" name="Graphic 4" descr="Toy Train with solid fill">
              <a:extLst>
                <a:ext uri="{FF2B5EF4-FFF2-40B4-BE49-F238E27FC236}">
                  <a16:creationId xmlns:a16="http://schemas.microsoft.com/office/drawing/2014/main" id="{494023A2-97D9-21F2-BE7A-CF9307AAF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44644" y="4983225"/>
              <a:ext cx="1311812" cy="1311812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A5FBE47-CF7C-D259-1A77-528DC8D35F34}"/>
                </a:ext>
              </a:extLst>
            </p:cNvPr>
            <p:cNvSpPr txBox="1"/>
            <p:nvPr/>
          </p:nvSpPr>
          <p:spPr>
            <a:xfrm>
              <a:off x="8386304" y="550484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X</a:t>
              </a:r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3CDFA3B2-3A4D-C759-64C6-8E26603228AE}"/>
              </a:ext>
            </a:extLst>
          </p:cNvPr>
          <p:cNvSpPr txBox="1">
            <a:spLocks/>
          </p:cNvSpPr>
          <p:nvPr/>
        </p:nvSpPr>
        <p:spPr>
          <a:xfrm>
            <a:off x="1243413" y="239859"/>
            <a:ext cx="4977001" cy="4619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</a:t>
            </a:r>
            <a:r>
              <a:rPr lang="en-US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addFirst</a:t>
            </a:r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(S)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F0266AE-103A-5624-2D1D-3268CAE8C3DE}"/>
              </a:ext>
            </a:extLst>
          </p:cNvPr>
          <p:cNvGrpSpPr/>
          <p:nvPr/>
        </p:nvGrpSpPr>
        <p:grpSpPr>
          <a:xfrm>
            <a:off x="8011352" y="5211001"/>
            <a:ext cx="1165697" cy="862080"/>
            <a:chOff x="7029587" y="5261100"/>
            <a:chExt cx="1165697" cy="86208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51F3FE1-962E-0753-32AF-48340D65A407}"/>
                </a:ext>
              </a:extLst>
            </p:cNvPr>
            <p:cNvGrpSpPr/>
            <p:nvPr/>
          </p:nvGrpSpPr>
          <p:grpSpPr>
            <a:xfrm>
              <a:off x="7029587" y="5261100"/>
              <a:ext cx="1165697" cy="862080"/>
              <a:chOff x="7018845" y="5261100"/>
              <a:chExt cx="1165697" cy="862080"/>
            </a:xfrm>
          </p:grpSpPr>
          <p:sp>
            <p:nvSpPr>
              <p:cNvPr id="47" name="Flowchart: Process 46">
                <a:extLst>
                  <a:ext uri="{FF2B5EF4-FFF2-40B4-BE49-F238E27FC236}">
                    <a16:creationId xmlns:a16="http://schemas.microsoft.com/office/drawing/2014/main" id="{65C8AC72-2E05-64A7-EE17-582CAA99536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029587" y="5261100"/>
                <a:ext cx="1154955" cy="674830"/>
              </a:xfrm>
              <a:prstGeom prst="flowChartProcess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</a:t>
                </a:r>
              </a:p>
            </p:txBody>
          </p:sp>
          <p:sp>
            <p:nvSpPr>
              <p:cNvPr id="48" name="Circle: Hollow 47">
                <a:extLst>
                  <a:ext uri="{FF2B5EF4-FFF2-40B4-BE49-F238E27FC236}">
                    <a16:creationId xmlns:a16="http://schemas.microsoft.com/office/drawing/2014/main" id="{721C294F-45DE-2C1A-9DAF-F6AD3B9A2DD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018845" y="5753050"/>
                <a:ext cx="365760" cy="365760"/>
              </a:xfrm>
              <a:prstGeom prst="donu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Circle: Hollow 48">
                <a:extLst>
                  <a:ext uri="{FF2B5EF4-FFF2-40B4-BE49-F238E27FC236}">
                    <a16:creationId xmlns:a16="http://schemas.microsoft.com/office/drawing/2014/main" id="{EBC12370-680C-C6F0-1952-7DE51DD3F4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18782" y="5757420"/>
                <a:ext cx="365760" cy="365760"/>
              </a:xfrm>
              <a:prstGeom prst="donu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Flowchart: Process 45">
              <a:extLst>
                <a:ext uri="{FF2B5EF4-FFF2-40B4-BE49-F238E27FC236}">
                  <a16:creationId xmlns:a16="http://schemas.microsoft.com/office/drawing/2014/main" id="{DD487B61-C1BD-059D-70AB-92A3DE48C574}"/>
                </a:ext>
              </a:extLst>
            </p:cNvPr>
            <p:cNvSpPr/>
            <p:nvPr/>
          </p:nvSpPr>
          <p:spPr>
            <a:xfrm>
              <a:off x="7029587" y="5261100"/>
              <a:ext cx="204717" cy="674830"/>
            </a:xfrm>
            <a:prstGeom prst="flowChartProcess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9A7B30E-8140-D10F-8013-07EB3D2D249E}"/>
              </a:ext>
            </a:extLst>
          </p:cNvPr>
          <p:cNvGrpSpPr/>
          <p:nvPr/>
        </p:nvGrpSpPr>
        <p:grpSpPr>
          <a:xfrm>
            <a:off x="9177049" y="4935751"/>
            <a:ext cx="1875013" cy="1311812"/>
            <a:chOff x="9177049" y="4935751"/>
            <a:chExt cx="1875013" cy="1311812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F71A4A60-1F2A-739B-1016-8EB19519926D}"/>
                </a:ext>
              </a:extLst>
            </p:cNvPr>
            <p:cNvGrpSpPr/>
            <p:nvPr/>
          </p:nvGrpSpPr>
          <p:grpSpPr>
            <a:xfrm>
              <a:off x="9740250" y="4935751"/>
              <a:ext cx="1311812" cy="1311812"/>
              <a:chOff x="7944644" y="4983225"/>
              <a:chExt cx="1311812" cy="1311812"/>
            </a:xfrm>
          </p:grpSpPr>
          <p:pic>
            <p:nvPicPr>
              <p:cNvPr id="41" name="Graphic 40" descr="Toy Train with solid fill">
                <a:extLst>
                  <a:ext uri="{FF2B5EF4-FFF2-40B4-BE49-F238E27FC236}">
                    <a16:creationId xmlns:a16="http://schemas.microsoft.com/office/drawing/2014/main" id="{2B369D60-FD7C-BD2C-59F7-38790BFAB7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944644" y="4983225"/>
                <a:ext cx="1311812" cy="1311812"/>
              </a:xfrm>
              <a:prstGeom prst="rect">
                <a:avLst/>
              </a:prstGeom>
            </p:spPr>
          </p:pic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C7BBCB2-8BD4-4A2D-DE88-DDF8066D66E7}"/>
                  </a:ext>
                </a:extLst>
              </p:cNvPr>
              <p:cNvSpPr txBox="1"/>
              <p:nvPr/>
            </p:nvSpPr>
            <p:spPr>
              <a:xfrm>
                <a:off x="8386304" y="5504849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S</a:t>
                </a:r>
              </a:p>
            </p:txBody>
          </p:sp>
        </p:grp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EAB29D64-E3C4-C8FD-E414-82A1E26162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77049" y="5597523"/>
              <a:ext cx="743069" cy="0"/>
            </a:xfrm>
            <a:prstGeom prst="straightConnector1">
              <a:avLst/>
            </a:prstGeom>
            <a:ln w="666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38665922-A076-D283-B6E8-4CC72C59E82A}"/>
              </a:ext>
            </a:extLst>
          </p:cNvPr>
          <p:cNvSpPr txBox="1">
            <a:spLocks/>
          </p:cNvSpPr>
          <p:nvPr/>
        </p:nvSpPr>
        <p:spPr>
          <a:xfrm>
            <a:off x="1395825" y="792628"/>
            <a:ext cx="4672176" cy="501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</a:t>
            </a:r>
            <a:r>
              <a:rPr lang="en-US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addLast</a:t>
            </a:r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(Z)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258FC5E-9D35-47D1-63B8-5CA07B19BFF5}"/>
              </a:ext>
            </a:extLst>
          </p:cNvPr>
          <p:cNvGrpSpPr/>
          <p:nvPr/>
        </p:nvGrpSpPr>
        <p:grpSpPr>
          <a:xfrm>
            <a:off x="818624" y="5199351"/>
            <a:ext cx="1806408" cy="862080"/>
            <a:chOff x="1514032" y="6118650"/>
            <a:chExt cx="1806408" cy="86208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A440FA7-7CAC-AB0E-0EFD-C8AC7CE5FE41}"/>
                </a:ext>
              </a:extLst>
            </p:cNvPr>
            <p:cNvGrpSpPr/>
            <p:nvPr/>
          </p:nvGrpSpPr>
          <p:grpSpPr>
            <a:xfrm>
              <a:off x="2154743" y="6118650"/>
              <a:ext cx="1165697" cy="862080"/>
              <a:chOff x="7029587" y="5261100"/>
              <a:chExt cx="1165697" cy="862080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B3EE4A93-5AC6-C066-A01A-021594F3D98E}"/>
                  </a:ext>
                </a:extLst>
              </p:cNvPr>
              <p:cNvGrpSpPr/>
              <p:nvPr/>
            </p:nvGrpSpPr>
            <p:grpSpPr>
              <a:xfrm>
                <a:off x="7029587" y="5261100"/>
                <a:ext cx="1165697" cy="862080"/>
                <a:chOff x="7018845" y="5261100"/>
                <a:chExt cx="1165697" cy="862080"/>
              </a:xfrm>
            </p:grpSpPr>
            <p:sp>
              <p:nvSpPr>
                <p:cNvPr id="56" name="Flowchart: Process 55">
                  <a:extLst>
                    <a:ext uri="{FF2B5EF4-FFF2-40B4-BE49-F238E27FC236}">
                      <a16:creationId xmlns:a16="http://schemas.microsoft.com/office/drawing/2014/main" id="{BB06543C-C639-C140-4191-47C0F036645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029587" y="5261100"/>
                  <a:ext cx="1154955" cy="674830"/>
                </a:xfrm>
                <a:prstGeom prst="flowChartProcess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Z</a:t>
                  </a:r>
                </a:p>
              </p:txBody>
            </p:sp>
            <p:sp>
              <p:nvSpPr>
                <p:cNvPr id="57" name="Circle: Hollow 56">
                  <a:extLst>
                    <a:ext uri="{FF2B5EF4-FFF2-40B4-BE49-F238E27FC236}">
                      <a16:creationId xmlns:a16="http://schemas.microsoft.com/office/drawing/2014/main" id="{2A67BF83-E5A5-FF21-09BE-1B4D06E9B06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018845" y="5753050"/>
                  <a:ext cx="365760" cy="365760"/>
                </a:xfrm>
                <a:prstGeom prst="donut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" name="Circle: Hollow 57">
                  <a:extLst>
                    <a:ext uri="{FF2B5EF4-FFF2-40B4-BE49-F238E27FC236}">
                      <a16:creationId xmlns:a16="http://schemas.microsoft.com/office/drawing/2014/main" id="{4E150AB4-ABC4-41AF-96CC-B8AF642C0E5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818782" y="5757420"/>
                  <a:ext cx="365760" cy="365760"/>
                </a:xfrm>
                <a:prstGeom prst="donut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5" name="Flowchart: Process 54">
                <a:extLst>
                  <a:ext uri="{FF2B5EF4-FFF2-40B4-BE49-F238E27FC236}">
                    <a16:creationId xmlns:a16="http://schemas.microsoft.com/office/drawing/2014/main" id="{55D81946-A2E4-36B4-863C-27969D9222A6}"/>
                  </a:ext>
                </a:extLst>
              </p:cNvPr>
              <p:cNvSpPr/>
              <p:nvPr/>
            </p:nvSpPr>
            <p:spPr>
              <a:xfrm>
                <a:off x="7029587" y="5261100"/>
                <a:ext cx="204717" cy="674830"/>
              </a:xfrm>
              <a:prstGeom prst="flowChartProcess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8C8083C1-572B-4BB0-7B73-0C099957F8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4032" y="6456065"/>
              <a:ext cx="743069" cy="0"/>
            </a:xfrm>
            <a:prstGeom prst="straightConnector1">
              <a:avLst/>
            </a:prstGeom>
            <a:ln w="666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0C04AEFB-EE40-92A3-CE53-76E55F059119}"/>
              </a:ext>
            </a:extLst>
          </p:cNvPr>
          <p:cNvSpPr txBox="1">
            <a:spLocks/>
          </p:cNvSpPr>
          <p:nvPr/>
        </p:nvSpPr>
        <p:spPr>
          <a:xfrm>
            <a:off x="1243413" y="1402816"/>
            <a:ext cx="4586531" cy="501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</a:t>
            </a:r>
            <a:r>
              <a:rPr lang="en-US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2753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988"/>
    </mc:Choice>
    <mc:Fallback>
      <p:transition spd="slow" advTm="269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11111E-6 L 0.1513 -1.11111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500"/>
                            </p:stCondLst>
                            <p:childTnLst>
                              <p:par>
                                <p:cTn id="24" presetID="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5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000"/>
                            </p:stCondLst>
                            <p:childTnLst>
                              <p:par>
                                <p:cTn id="3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188 0.00232 L -0.15625 0.00116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19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0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3000"/>
                            </p:stCondLst>
                            <p:childTnLst>
                              <p:par>
                                <p:cTn id="42" presetID="42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2.29167E-6 -2.22222E-6 L -0.15247 -2.22222E-6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3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0"/>
                            </p:stCondLst>
                            <p:childTnLst>
                              <p:par>
                                <p:cTn id="45" presetID="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5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000"/>
                            </p:stCondLst>
                            <p:childTnLst>
                              <p:par>
                                <p:cTn id="55" presetID="2" presetClass="exit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2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2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9000"/>
                            </p:stCondLst>
                            <p:childTnLst>
                              <p:par>
                                <p:cTn id="60" presetID="42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375E-6 2.22222E-6 L -0.08125 -0.00672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62" y="-347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63" dur="2000" fill="hold"/>
                                        <p:tgtEl>
                                          <p:spTgt spid="29"/>
                                        </p:tgtEl>
                                      </p:cBhvr>
                                      <p:by x="35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3" grpId="0"/>
      <p:bldP spid="43" grpId="1"/>
      <p:bldP spid="52" grpId="0"/>
      <p:bldP spid="52" grpId="1"/>
      <p:bldP spid="6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88E9556-96EB-43B4-8552-B18E859B65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0E87F72-70BF-43BC-A0D4-53665DC12672}">
  <ds:schemaRefs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microsoft.com/sharepoint/v3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{DE076F48-48FB-4B67-A22E-97F0139CB6D3}372c19de-dfd4-4de7-9293-53c5fa2d1f7c-TF54b766f8-63ee-43b7-9d15-113a5f305028b8e3081f_win32</Template>
  <TotalTime>342</TotalTime>
  <Words>181</Words>
  <Application>Microsoft Office PowerPoint</Application>
  <PresentationFormat>Widescreen</PresentationFormat>
  <Paragraphs>42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Courier New</vt:lpstr>
      <vt:lpstr>Univers</vt:lpstr>
      <vt:lpstr>GradientVTI</vt:lpstr>
      <vt:lpstr>Animation of Data Structures</vt:lpstr>
      <vt:lpstr>Stack (Array)</vt:lpstr>
      <vt:lpstr>Queue</vt:lpstr>
      <vt:lpstr>LinkeDLISt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Vyom Patel</dc:creator>
  <cp:lastModifiedBy>Vyom Patel</cp:lastModifiedBy>
  <cp:revision>10</cp:revision>
  <dcterms:created xsi:type="dcterms:W3CDTF">2026-01-06T16:05:19Z</dcterms:created>
  <dcterms:modified xsi:type="dcterms:W3CDTF">2026-01-13T17:04:34Z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